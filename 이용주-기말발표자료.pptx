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eeyongjoo9-rgb/tubebrief_mvp" TargetMode="External"/><Relationship Id="rId3" Type="http://schemas.openxmlformats.org/officeDocument/2006/relationships/hyperlink" Target="https://tubebrief-mvp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ubebrief-mvp.vercel.app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3840480"/>
            <a:ext cx="2926080" cy="2926080"/>
          </a:xfrm>
          <a:prstGeom prst="ellipse">
            <a:avLst/>
          </a:prstGeom>
          <a:solidFill>
            <a:srgbClr val="B5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40080"/>
            <a:ext cx="3291840" cy="3657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400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>
                <a:solidFill>
                  <a:srgbClr val="2D4A3E"/>
                </a:solidFill>
                <a:latin typeface="맑은 고딕"/>
                <a:ea typeface="맑은 고딕"/>
              </a:rPr>
              <a:t>BAVECODING  ·  바이브코딩 기말과제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868680" cy="86868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8686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331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9B9182"/>
                </a:solidFill>
                <a:latin typeface="맑은 고딕"/>
                <a:ea typeface="맑은 고딕"/>
              </a:rPr>
              <a:t>CONTENT  DIGEST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>
                <a:solidFill>
                  <a:srgbClr val="2C2418"/>
                </a:solidFill>
                <a:latin typeface="맑은 고딕"/>
                <a:ea typeface="맑은 고딕"/>
              </a:rPr>
              <a:t>TubeBrief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2D4A3E"/>
                </a:solidFill>
                <a:latin typeface="맑은 고딕"/>
                <a:ea typeface="맑은 고딕"/>
              </a:rPr>
              <a:t>유튜브 구독 채널 자동 요약 서비스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006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>
                <a:solidFill>
                  <a:srgbClr val="6B6356"/>
                </a:solidFill>
                <a:latin typeface="맑은 고딕"/>
                <a:ea typeface="맑은 고딕"/>
              </a:rPr>
              <a:t>구독한 유튜브 채널의 신규 영상을 매일 자동으로 감지해 AI로 구조화된 한 장짜리 요약 보고서를 작성·아카이빙하는 개인용 콘텐츠 다이제스트.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98932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>
                <a:solidFill>
                  <a:srgbClr val="9B9182"/>
                </a:solidFill>
                <a:latin typeface="맑은 고딕"/>
                <a:ea typeface="맑은 고딕"/>
              </a:rPr>
              <a:t>PRESENTER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C2418"/>
                </a:solidFill>
                <a:latin typeface="맑은 고딕"/>
                <a:ea typeface="맑은 고딕"/>
              </a:rPr>
              <a:t>이용주  ·  학번: _(제출 전 본인 학번 기입)_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>
                <a:solidFill>
                  <a:srgbClr val="9B9182"/>
                </a:solidFill>
                <a:latin typeface="맑은 고딕"/>
                <a:ea typeface="맑은 고딕"/>
              </a:rP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400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u="sng">
                <a:solidFill>
                  <a:srgbClr val="B5793E"/>
                </a:solidFill>
                <a:latin typeface="맑은 고딕"/>
                <a:ea typeface="맑은 고딕"/>
                <a:hlinkClick r:id="rId2"/>
              </a:rPr>
              <a:t>github.com/leeyongjoo9-rgb/tubebrief_mvp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172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>
                <a:solidFill>
                  <a:srgbClr val="9B9182"/>
                </a:solidFill>
                <a:latin typeface="맑은 고딕"/>
                <a:ea typeface="맑은 고딕"/>
              </a:rPr>
              <a:t>SERVICE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u="sng">
                <a:solidFill>
                  <a:srgbClr val="B5793E"/>
                </a:solidFill>
                <a:latin typeface="맑은 고딕"/>
                <a:ea typeface="맑은 고딕"/>
                <a:hlinkClick r:id="rId3"/>
              </a:rPr>
              <a:t>tubebrief-mvp.vercel.app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WHY  ·  문제정의와 대상 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정보는 쏟아지고 시간은 부족하다.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02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956816"/>
            <a:ext cx="5440680" cy="4480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44068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8B2635"/>
                </a:solidFill>
                <a:latin typeface="맑은 고딕"/>
                <a:ea typeface="맑은 고딕"/>
              </a:rPr>
              <a:t>PROBLEM  ·  문제 · 사용 상황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이런 불편을 매일 겪는다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매일 채널마다 1~5편 신규 영상 누적, 다 볼 시간 없음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어떤 영상에 시간을 투자할지 우선순위 판단 어려움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유튜브 자막은 길고 비구조화 텍스트라 훑어 읽기 어려움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한 줄 캡션은 정보 밀도 부족, 알고리즘 추천은 관심사와 어긋남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오래된 영상은 RSS 에서 사라져 회수할 방법 없음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216" y="1956816"/>
            <a:ext cx="5440680" cy="4480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920240"/>
            <a:ext cx="544068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GOAL  ·  대상 사용자 · 해결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2C2418"/>
                </a:solidFill>
                <a:latin typeface="맑은 고딕"/>
                <a:ea typeface="맑은 고딕"/>
              </a:rPr>
              <a:t>이런 사용자를 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10896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채널을 등록만 해두면 매일 자동으로 요약 보고서 누적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영상 한 편을 1분 안에 파악 → 골라서 시청</a:t>
            </a:r>
          </a:p>
          <a:p>
            <a:pPr algn="l">
              <a:lnSpc>
                <a:spcPct val="160000"/>
              </a:lnSpc>
            </a:pPr>
            <a:r>
              <a:rPr sz="1200">
                <a:solidFill>
                  <a:srgbClr val="6B6356"/>
                </a:solidFill>
                <a:latin typeface="맑은 고딕"/>
                <a:ea typeface="맑은 고딕"/>
              </a:rPr>
              <a:t>•  단순 캡션 X → 헤드라인·본문·출연자·기업·시각 점프까지 구조화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5074920"/>
            <a:ext cx="5074920" cy="1188720"/>
          </a:xfrm>
          <a:prstGeom prst="rect">
            <a:avLst/>
          </a:prstGeom>
          <a:solidFill>
            <a:srgbClr val="F9F5EE"/>
          </a:solidFill>
          <a:ln w="6350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52120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구독 채널 3개 이상, 콘텐츠 중심 시청 / 시간 부족한 개인</a:t>
            </a:r>
          </a:p>
          <a:p>
            <a:pPr algn="l">
              <a:lnSpc>
                <a:spcPct val="155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정보 비용 최소화로 의사결정에 쓰고 싶은 사용자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WHAT  ·  주요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수집부터 요약·구독·자동화까지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03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91109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4883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19" y="21488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자동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채널 RSS 주기 폴링으로 신규 영상 자동 감지 (UNIQUE 로 중복 방지)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25696" y="191109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87451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14883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21488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자막 추출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743200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한국어 자막 추출, 실패 시 RSS 설명문 메타데이터로 폴백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4735" y="191109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59" y="187451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214883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399" y="214883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AI 구조화 요약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743200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gpt-5-mini structured outputs — 헤드라인·본문·주제·인물·기업·타임스탬프 분리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10565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06907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34339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19" y="434339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유연한 채널 등록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37759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채널 전체 또는 제목·설명문 키워드 AND 필터로 코너 단위 수신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25696" y="410565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0" y="406907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63440" y="434339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434339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출연자 ↔ 거론 인물 분리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37759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people / mentioned_people 별도 필드. 호스트 자동 제외, 환각 방지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5" y="4105655"/>
            <a:ext cx="3566160" cy="19659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4069079"/>
            <a:ext cx="35661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12480" y="4343399"/>
            <a:ext cx="365760" cy="365760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5399" y="4343399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>
                <a:solidFill>
                  <a:srgbClr val="2C2418"/>
                </a:solidFill>
                <a:latin typeface="맑은 고딕"/>
                <a:ea typeface="맑은 고딕"/>
              </a:rPr>
              <a:t>자동화 + 보고서 정리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937759"/>
            <a:ext cx="3017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Vercel Cron 일 1회. 한 번 본 보고서는 소프트 삭제로 정리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USE  ·  사용자 이용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채널 등록 → 자동 처리 → 결과 조회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04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8B2635"/>
                </a:solidFill>
                <a:latin typeface="맑은 고딕"/>
                <a:ea typeface="맑은 고딕"/>
              </a:rPr>
              <a:t>INPUT  ·  입력 (1회 등록)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2C2418"/>
                </a:solidFill>
                <a:latin typeface="맑은 고딕"/>
                <a:ea typeface="맑은 고딕"/>
              </a:rPr>
              <a:t>사용자는 메인화면 [채널 관리] 에서 채널 URL + 키워드 필터를 1회 등록한다.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AUTO  ·  자동 처리 (매일 0시 UTC)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3648456"/>
            <a:ext cx="2103120" cy="1051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21031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매일 0시 UTC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210312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>
                <a:solidFill>
                  <a:srgbClr val="6B6356"/>
                </a:solidFill>
                <a:latin typeface="맑은 고딕"/>
                <a:ea typeface="맑은 고딕"/>
              </a:rPr>
              <a:t>Vercel Cron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779776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89504" y="3648456"/>
            <a:ext cx="2103120" cy="1051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52928" y="3611880"/>
            <a:ext cx="21031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8" y="3794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RSS 폴링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8" y="4160520"/>
            <a:ext cx="210312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>
                <a:solidFill>
                  <a:srgbClr val="6B6356"/>
                </a:solidFill>
                <a:latin typeface="맑은 고딕"/>
                <a:ea typeface="맑은 고딕"/>
              </a:rPr>
              <a:t>구독·키워드 매치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92624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02352" y="3648456"/>
            <a:ext cx="2103120" cy="1051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5776" y="3611880"/>
            <a:ext cx="21031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794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자막 추출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160520"/>
            <a:ext cx="210312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>
                <a:solidFill>
                  <a:srgbClr val="6B6356"/>
                </a:solidFill>
                <a:latin typeface="맑은 고딕"/>
                <a:ea typeface="맑은 고딕"/>
              </a:rPr>
              <a:t>youtube-transcript
→ 폴백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05472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3648456"/>
            <a:ext cx="2103120" cy="1051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78624" y="3611880"/>
            <a:ext cx="21031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624" y="3794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LLM 요약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8624" y="4160520"/>
            <a:ext cx="210312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>
                <a:solidFill>
                  <a:srgbClr val="6B6356"/>
                </a:solidFill>
                <a:latin typeface="맑은 고딕"/>
                <a:ea typeface="맑은 고딕"/>
              </a:rPr>
              <a:t>gpt-5-mini
JSON Schema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319" y="3977639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28047" y="3648456"/>
            <a:ext cx="2103120" cy="105156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91472" y="3611880"/>
            <a:ext cx="21031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91472" y="37947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Supabase 저장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1472" y="4160520"/>
            <a:ext cx="210312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>
                <a:solidFill>
                  <a:srgbClr val="6B6356"/>
                </a:solidFill>
                <a:latin typeface="맑은 고딕"/>
                <a:ea typeface="맑은 고딕"/>
              </a:rPr>
              <a:t>videos.summary
jsonb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OUTPUT  ·  결과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" y="5294376"/>
            <a:ext cx="5394960" cy="137160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578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4068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홈 대시보드 — ChannelStrip, 카드 그리드, 마지막 자동 확인 시각</a:t>
            </a:r>
          </a:p>
          <a:p>
            <a:pPr algn="l">
              <a:lnSpc>
                <a:spcPct val="150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채널별 필터링, 최신 영상이 좌측 첫 카드부터 배치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0216" y="5294376"/>
            <a:ext cx="5394960" cy="137160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5257800"/>
            <a:ext cx="53949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44068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영상 상세 — 헤드라인 + 키워드 + 출연자 / 거론 인물</a:t>
            </a:r>
          </a:p>
          <a:p>
            <a:pPr algn="l">
              <a:lnSpc>
                <a:spcPct val="150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▸  본문 안 (mm:ss) → 유튜브 그 시점 점프. 한 번 본 보고서는 삭제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DEMO  ·  데모 화면 (라이브)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tubebrief-mvp.vercel.app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05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B5793E"/>
                </a:solidFill>
                <a:latin typeface="맑은 고딕"/>
                <a:ea typeface="맑은 고딕"/>
              </a:rPr>
              <a:t>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920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u="sng">
                <a:solidFill>
                  <a:srgbClr val="B5793E"/>
                </a:solidFill>
                <a:latin typeface="맑은 고딕"/>
                <a:ea typeface="맑은 고딕"/>
                <a:hlinkClick r:id="rId2"/>
              </a:rPr>
              <a:t>https://tubebrief-mvp.vercel.app/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9B9182"/>
                </a:solidFill>
                <a:latin typeface="맑은 고딕"/>
                <a:ea typeface="맑은 고딕"/>
              </a:rPr>
              <a:t>URL 클릭 → 라이브 사이트. 접속 불가 시 다음 슬라이드의 캡처 본 페이지로 이동.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825496"/>
            <a:ext cx="10881360" cy="365760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08813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>
                <a:solidFill>
                  <a:srgbClr val="9B9182"/>
                </a:solidFill>
                <a:latin typeface="맑은 고딕"/>
                <a:ea typeface="맑은 고딕"/>
              </a:rPr>
              <a:t>[ 메인 화면 캡처 — 홈 대시보드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9B9182"/>
                </a:solidFill>
                <a:latin typeface="맑은 고딕"/>
                <a:ea typeface="맑은 고딕"/>
              </a:rPr>
              <a:t>헤더 + ChannelStrip + 카드 그리드 (55개 요약 영상)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STACK  ·  기술 스택 및 구현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Next.js 풀스택 + Supabase + OpenAI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06 /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PIPELINE  ·  4단계 직렬 처리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2322576"/>
            <a:ext cx="2560320" cy="96012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25603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RSS 감지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36976" y="2606040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4135" y="2322576"/>
            <a:ext cx="2560320" cy="96012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59" y="2286000"/>
            <a:ext cx="25603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59" y="2468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자막/폴백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34455" y="2606040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71616" y="2322576"/>
            <a:ext cx="2560320" cy="96012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2286000"/>
            <a:ext cx="25603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468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AI 요약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631935" y="2606040"/>
            <a:ext cx="274320" cy="329184"/>
          </a:xfrm>
          <a:prstGeom prst="rightArrow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69095" y="2322576"/>
            <a:ext cx="2560320" cy="96012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32519" y="2286000"/>
            <a:ext cx="25603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19" y="24688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>
                <a:solidFill>
                  <a:srgbClr val="2D4A3E"/>
                </a:solidFill>
                <a:latin typeface="맑은 고딕"/>
                <a:ea typeface="맑은 고딕"/>
              </a:rPr>
              <a:t>DB 저장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" y="3739896"/>
            <a:ext cx="10881360" cy="62179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10881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95935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19" y="3703320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프레임워크 / 언어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703320"/>
            <a:ext cx="7223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Next.js 16 (App Router) · TypeScript · Tailwind v4 + shadcn/ui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" y="4453128"/>
            <a:ext cx="10881360" cy="62179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416552"/>
            <a:ext cx="10881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4672584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19" y="4416552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데이터 /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416552"/>
            <a:ext cx="7223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Supabase (PostgreSQL · jsonb) · OpenAI gpt-5-mini (JSON 스키마 strict)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" y="5166359"/>
            <a:ext cx="10881360" cy="62179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129783"/>
            <a:ext cx="10881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5385816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8719" y="5129783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외부 데이터 소스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5129783"/>
            <a:ext cx="7223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YouTube RSS · 영상 페이지 스크래핑 · youtube-transcript 라이브러리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" y="5879592"/>
            <a:ext cx="10881360" cy="62179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843016"/>
            <a:ext cx="10881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6099048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19" y="5843016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배포 / 운영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0" y="5843016"/>
            <a:ext cx="7223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Vercel (Hobby) · Vercel Cron 일 1회 · GitHub 자동 빌드 연동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API  ·  외부 API · MCP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2C2418"/>
                </a:solidFill>
                <a:latin typeface="맑은 고딕"/>
                <a:ea typeface="맑은 고딕"/>
              </a:rPr>
              <a:t>직접 호출 4 + 인프라 활용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07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204825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31343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201168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OpenAI Chat (gpt-5-mini)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자막 + 시스템 프롬프트 + JSON Schema → strict mode → Supabase jsonb 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87121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13639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283464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Supabase REST + JS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83464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서버는 service role, 클라이언트는 publishable key (RLS 보호)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69417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95935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19" y="36576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YouTube RSS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65760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feeds/videos.xml?channel_id 폴링 → XML 파싱 → 키워드 매치 → DB INSERT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51713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48056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78231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19" y="448056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YouTube 페이지 스크래핑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48056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URL → channel_id 추출. 6 패턴 fallback (canonical/og:url/Schema.org/JSON)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" y="534009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0352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60527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19" y="530352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Vercel Platform (인프라)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30352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vercel.json crons → 매일 0시 /api/cron. push 시 GitHub webhook 자동 재배포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>
                <a:solidFill>
                  <a:srgbClr val="9B9182"/>
                </a:solidFill>
                <a:latin typeface="맑은 고딕"/>
                <a:ea typeface="맑은 고딕"/>
              </a:rPr>
              <a:t>한계  ·  LLM 비용 영상당 ~$0.025 / Vercel Hobby 60초 timeout → 보수적 limit + temperature 0.2 로 retry 최소화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CONTEXT  ·  컨텍스트 엔지니어링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.md 파일 4개로 역할 · 목표 · 제약 · 검증 기준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08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204825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31343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201168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세션마다 자동 로드. 절대 규칙 6개 + 작업 순서 8단계 + 코딩 스타일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87121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13639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283464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TubeBrief_PRD.md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83464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문제·기능·사용자 흐름·파이프라인. 자막 폴백 3단계가 그대로 status 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69417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65760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95935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19" y="36576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SUMMARY_SCHEMA.json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65760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LLM 출력 JSON 스키마 진실 공급원. OpenAI response_format 에 그대로 전달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517136"/>
            <a:ext cx="10881360" cy="713232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480560"/>
            <a:ext cx="10881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782312"/>
            <a:ext cx="109728" cy="109728"/>
          </a:xfrm>
          <a:prstGeom prst="rect">
            <a:avLst/>
          </a:prstGeom>
          <a:solidFill>
            <a:srgbClr val="2D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19" y="448056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PRESENTATION.md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4480560"/>
            <a:ext cx="7223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발표 콘텐츠 + 옛/새 규칙 비교 라이브 자료. GitHub 리뷰 시 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440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INPUT  ·  CONTEXT 작성을 위한 자료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7607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>
                <a:solidFill>
                  <a:srgbClr val="6B6356"/>
                </a:solidFill>
                <a:latin typeface="맑은 고딕"/>
                <a:ea typeface="맑은 고딕"/>
              </a:rPr>
              <a:t>•  강의 교안의 'AI 협업 규칙' + Anthropic Claude Code 공식 베스트 프랙티스 → CLAUDE.md</a:t>
            </a:r>
          </a:p>
          <a:p>
            <a:pPr algn="l">
              <a:lnSpc>
                <a:spcPct val="145000"/>
              </a:lnSpc>
            </a:pPr>
            <a:r>
              <a:rPr sz="1000">
                <a:solidFill>
                  <a:srgbClr val="6B6356"/>
                </a:solidFill>
                <a:latin typeface="맑은 고딕"/>
                <a:ea typeface="맑은 고딕"/>
              </a:rPr>
              <a:t>•  본인 문제 정의 + 기존 유튜브 요약 서비스 한계 분석 → PRD</a:t>
            </a:r>
          </a:p>
          <a:p>
            <a:pPr algn="l">
              <a:lnSpc>
                <a:spcPct val="145000"/>
              </a:lnSpc>
            </a:pPr>
            <a:r>
              <a:rPr sz="1000">
                <a:solidFill>
                  <a:srgbClr val="6B6356"/>
                </a:solidFill>
                <a:latin typeface="맑은 고딕"/>
                <a:ea typeface="맑은 고딕"/>
              </a:rPr>
              <a:t>•  OpenAI structured outputs 공식 가이드 + JSON Schema draft-07 → SUMMARY_SCHEMA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NEXT  ·  어려움 · 해결 · 한계 ·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>
                <a:solidFill>
                  <a:srgbClr val="2C2418"/>
                </a:solidFill>
                <a:latin typeface="맑은 고딕"/>
                <a:ea typeface="맑은 고딕"/>
              </a:rPr>
              <a:t>3겹 가드레일이 LLM 시스템의 핵심이었다.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3716"/>
          </a:xfrm>
          <a:prstGeom prst="rect">
            <a:avLst/>
          </a:prstGeom>
          <a:solidFill>
            <a:srgbClr val="D5C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>
                <a:solidFill>
                  <a:srgbClr val="9B9182"/>
                </a:solidFill>
                <a:latin typeface="맑은 고딕"/>
                <a:ea typeface="맑은 고딕"/>
              </a:rPr>
              <a:t>09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956816"/>
            <a:ext cx="5577840" cy="384048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8B2635"/>
                </a:solidFill>
                <a:latin typeface="맑은 고딕"/>
                <a:ea typeface="맑은 고딕"/>
              </a:rPr>
              <a:t>CHALLENGE  · 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2C2418"/>
                </a:solidFill>
                <a:latin typeface="맑은 고딕"/>
                <a:ea typeface="맑은 고딕"/>
              </a:rPr>
              <a:t>LLM 한국어 요약이 규칙을 안 지킴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80"/>
            <a:ext cx="53035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•  초기 gpt-4o-mini: brief 290자 / 1문단 / (mm:ss) 0개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•  프롬프트 '가이드' → LLM 이 권고로 받아들임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86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SOLUTION  ·  3겹 가드레일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06240"/>
            <a:ext cx="53035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①  프롬프트 명령조 강화 (반드시 N자 이상)</a:t>
            </a:r>
          </a:p>
          <a:p>
            <a:pPr algn="l">
              <a:lnSpc>
                <a:spcPct val="155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②  validateSummary 후처리 + 위반 시 자동 재시도 (MAX 2)</a:t>
            </a:r>
          </a:p>
          <a:p>
            <a:pPr algn="l">
              <a:lnSpc>
                <a:spcPct val="155000"/>
              </a:lnSpc>
            </a:pPr>
            <a:r>
              <a:rPr sz="1150">
                <a:solidFill>
                  <a:srgbClr val="2C2418"/>
                </a:solidFill>
                <a:latin typeface="맑은 고딕"/>
                <a:ea typeface="맑은 고딕"/>
              </a:rPr>
              <a:t>③  gpt-5-mini 로 모델 교체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7376" y="1956816"/>
            <a:ext cx="5212080" cy="3840480"/>
          </a:xfrm>
          <a:prstGeom prst="rect">
            <a:avLst/>
          </a:prstGeom>
          <a:solidFill>
            <a:srgbClr val="D5C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920240"/>
            <a:ext cx="521208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2D4A3E"/>
                </a:solidFill>
                <a:latin typeface="맑은 고딕"/>
                <a:ea typeface="맑은 고딕"/>
              </a:rPr>
              <a:t>RESULT  ·  같은 영상, 8배 정보 밀도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514600"/>
            <a:ext cx="4754880" cy="365760"/>
          </a:xfrm>
          <a:prstGeom prst="rect">
            <a:avLst/>
          </a:prstGeom>
          <a:solidFill>
            <a:srgbClr val="F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5146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2C2418"/>
                </a:solidFill>
                <a:latin typeface="맑은 고딕"/>
                <a:ea typeface="맑은 고딕"/>
              </a:rPr>
              <a:t>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514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6B6356"/>
                </a:solidFill>
                <a:latin typeface="맑은 고딕"/>
                <a:ea typeface="맑은 고딕"/>
              </a:rPr>
              <a:t>옛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5146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>
                <a:solidFill>
                  <a:srgbClr val="2D4A3E"/>
                </a:solidFill>
                <a:latin typeface="맑은 고딕"/>
                <a:ea typeface="맑은 고딕"/>
              </a:rPr>
              <a:t>새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9260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>
                <a:solidFill>
                  <a:srgbClr val="2C2418"/>
                </a:solidFill>
                <a:latin typeface="맑은 고딕"/>
                <a:ea typeface="맑은 고딕"/>
              </a:rPr>
              <a:t>brief 분량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9260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264자 / 1문단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29260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2,122자 / 10문단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3832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>
                <a:solidFill>
                  <a:srgbClr val="2C2418"/>
                </a:solidFill>
                <a:latin typeface="맑은 고딕"/>
                <a:ea typeface="맑은 고딕"/>
              </a:rPr>
              <a:t>(mm:ss) 마커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3832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33832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8404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>
                <a:solidFill>
                  <a:srgbClr val="2C2418"/>
                </a:solidFill>
                <a:latin typeface="맑은 고딕"/>
                <a:ea typeface="맑은 고딕"/>
              </a:rPr>
              <a:t>companies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38404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8404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297680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>
                <a:solidFill>
                  <a:srgbClr val="2C2418"/>
                </a:solidFill>
                <a:latin typeface="맑은 고딕"/>
                <a:ea typeface="맑은 고딕"/>
              </a:rPr>
              <a:t>출연자 / 거론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297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6B6356"/>
                </a:solidFill>
                <a:latin typeface="맑은 고딕"/>
                <a:ea typeface="맑은 고딕"/>
              </a:rPr>
              <a:t>혼재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4297680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>
                <a:solidFill>
                  <a:srgbClr val="2D4A3E"/>
                </a:solidFill>
                <a:latin typeface="맑은 고딕"/>
                <a:ea typeface="맑은 고딕"/>
              </a:rPr>
              <a:t>people / mentioned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8B2635"/>
                </a:solidFill>
                <a:latin typeface="맑은 고딕"/>
                <a:ea typeface="맑은 고딕"/>
              </a:rPr>
              <a:t>LIMITATION  ·  정직한 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179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>
                <a:solidFill>
                  <a:srgbClr val="6B6356"/>
                </a:solidFill>
                <a:latin typeface="맑은 고딕"/>
                <a:ea typeface="맑은 고딕"/>
              </a:rPr>
              <a:t>•  Vercel Hobby 60초 / 일 1회 cron — backlog → Pro 또는 외부 워커 분리      •  자막 음역 (곽재식→곽제식) → description 해시태그를 LLM 정답 표기로 주입      •  배포 URL 공개 → Vercel Password Protection 또는 Supabase Auth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