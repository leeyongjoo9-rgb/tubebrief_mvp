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leeyongjoo9-rgb/tubebrief_mvp" TargetMode="External"/><Relationship Id="rId3" Type="http://schemas.openxmlformats.org/officeDocument/2006/relationships/hyperlink" Target="https://tubebrief-mvp.vercel.app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3383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맑은 고딕"/>
              </a:rPr>
              <a:t>TubeBrief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108960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맑은 고딕"/>
              </a:rPr>
              <a:t>유튜브 구독 채널 자동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바이브코딩 기말과제 · 이용주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71323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3864"/>
                </a:solidFill>
                <a:latin typeface="맑은 고딕"/>
              </a:rPr>
              <a:t>한 줄 소개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554480"/>
            <a:ext cx="71323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595959"/>
                </a:solidFill>
                <a:latin typeface="맑은 고딕"/>
              </a:rPr>
              <a:t>구독한 유튜브 채널의 신규 영상을 매일 자동 감지해 AI 로 구조화된 한 장짜리 요약 보고서로 변환·아카이빙하는 개인용 콘텐츠 다이제스트.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47472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GitHub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84048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u="sng">
                <a:solidFill>
                  <a:srgbClr val="4472C4"/>
                </a:solidFill>
                <a:latin typeface="맑은 고딕"/>
                <a:hlinkClick r:id="rId2"/>
              </a:rPr>
              <a:t>https://github.com/leeyongjoo9-rgb/tubebrief_mvp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48056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F3864"/>
                </a:solidFill>
                <a:latin typeface="맑은 고딕"/>
              </a:rPr>
              <a:t>Service 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846320"/>
            <a:ext cx="7132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u="sng">
                <a:solidFill>
                  <a:srgbClr val="4472C4"/>
                </a:solidFill>
                <a:latin typeface="맑은 고딕"/>
                <a:hlinkClick r:id="rId3"/>
              </a:rPr>
              <a:t>https://tubebrief-mvp.vercel.app/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5486400"/>
            <a:ext cx="7132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학번: _(제출 전 본인 학번 기입)_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09728" cy="4572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맑은 고딕"/>
              </a:rPr>
              <a:t>2. 문제정의와 대상 사용자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맑은 고딕"/>
              </a:rPr>
              <a:t>2/9  ·  45초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1828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247120" cy="868680"/>
          </a:xfrm>
          <a:prstGeom prst="roundRect">
            <a:avLst/>
          </a:prstGeom>
          <a:solidFill>
            <a:srgbClr val="F0F6FF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1307592"/>
            <a:ext cx="91440" cy="722375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472C4"/>
                </a:solidFill>
                <a:latin typeface="맑은 고딕"/>
              </a:rPr>
              <a:t>문제 정의</a:t>
            </a:r>
          </a:p>
          <a:p>
            <a:pPr algn="l">
              <a:spcBef>
                <a:spcPts val="300"/>
              </a:spcBef>
            </a:pPr>
            <a:r>
              <a:rPr sz="2000" b="1">
                <a:solidFill>
                  <a:srgbClr val="1F3864"/>
                </a:solidFill>
                <a:latin typeface="맑은 고딕"/>
              </a:rPr>
              <a:t>정보는 쏟아지고 시간은 부족하다.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93776" y="2368296"/>
            <a:ext cx="3584448" cy="502920"/>
          </a:xfrm>
          <a:prstGeom prst="rect">
            <a:avLst/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l"/>
            <a:r>
              <a:rPr sz="1400" b="1">
                <a:solidFill>
                  <a:srgbClr val="1F3864"/>
                </a:solidFill>
                <a:latin typeface="맑은 고딕"/>
              </a:rPr>
              <a:t>기존 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39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유튜브 자막은 길고 비구조화 텍스트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한 줄 캡션은 정보 밀도 부족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알고리즘 추천은 본인 관심사와 어긋남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33172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88536" y="2368296"/>
            <a:ext cx="3584448" cy="502920"/>
          </a:xfrm>
          <a:prstGeom prst="rect">
            <a:avLst/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l"/>
            <a:r>
              <a:rPr sz="1400" b="1">
                <a:solidFill>
                  <a:srgbClr val="1F3864"/>
                </a:solidFill>
                <a:latin typeface="맑은 고딕"/>
              </a:rPr>
              <a:t>사용 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063239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매일 채널마다 1~5편 신규 영상 누적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어떤 영상에 시간을 투자할지 판단 어려움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오래된 영상은 RSS 에서 사라짐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331720"/>
            <a:ext cx="36576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83296" y="2368296"/>
            <a:ext cx="3584448" cy="502920"/>
          </a:xfrm>
          <a:prstGeom prst="rect">
            <a:avLst/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l"/>
            <a:r>
              <a:rPr sz="1400" b="1">
                <a:solidFill>
                  <a:srgbClr val="1F3864"/>
                </a:solidFill>
                <a:latin typeface="맑은 고딕"/>
              </a:rPr>
              <a:t>대상 사용자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063239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구독 채널 3개 이상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콘텐츠 중심 시청 / 시간 부족한 개인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정보 비용 최소화로 의사결정에 쓰는 사용자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754880"/>
            <a:ext cx="112471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93776" y="4791456"/>
            <a:ext cx="11173968" cy="502920"/>
          </a:xfrm>
          <a:prstGeom prst="rect">
            <a:avLst/>
          </a:prstGeom>
          <a:solidFill>
            <a:srgbClr val="D1E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l"/>
            <a:r>
              <a:rPr sz="1400" b="1">
                <a:solidFill>
                  <a:srgbClr val="4472C4"/>
                </a:solidFill>
                <a:latin typeface="맑은 고딕"/>
              </a:rPr>
              <a:t>우리의 가설 — 해결 방향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486400"/>
            <a:ext cx="1078992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채널을 등록만 해두면 → 매일 자동으로 요약 보고서가 쌓임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1분 안에 영상 핵심을 파악 → 골라서 시청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단순 요약이 아닌 핵심 내용을 파악해 정보 제공 (헤드라인·본문·출연자·기업·시각 점프)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09728" cy="4572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292608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맑은 고딕"/>
              </a:rPr>
              <a:t>3. 서비스 개요와 핵심 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맑은 고딕"/>
              </a:rPr>
              <a:t>3/9  ·  45초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11247120" cy="18288"/>
          </a:xfrm>
          <a:prstGeom prst="rect">
            <a:avLst/>
          </a:prstGeom>
          <a:solidFill>
            <a:srgbClr val="BFB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234440"/>
            <a:ext cx="11247120" cy="868680"/>
          </a:xfrm>
          <a:prstGeom prst="roundRect">
            <a:avLst/>
          </a:prstGeom>
          <a:solidFill>
            <a:srgbClr val="F0F6FF"/>
          </a:solidFill>
          <a:ln w="952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1307592"/>
            <a:ext cx="91440" cy="722375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108813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4472C4"/>
                </a:solidFill>
                <a:latin typeface="맑은 고딕"/>
              </a:rPr>
              <a:t>서비스 한 줄</a:t>
            </a:r>
          </a:p>
          <a:p>
            <a:pPr algn="l">
              <a:spcBef>
                <a:spcPts val="300"/>
              </a:spcBef>
            </a:pPr>
            <a:r>
              <a:rPr sz="2000" b="1">
                <a:solidFill>
                  <a:srgbClr val="1F3864"/>
                </a:solidFill>
                <a:latin typeface="맑은 고딕"/>
              </a:rPr>
              <a:t>매일 자동 감지 → LLM → 핵심 요약 보고서 → 대시보드 아카이빙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331720"/>
            <a:ext cx="3703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93776" y="2368296"/>
            <a:ext cx="3630168" cy="502920"/>
          </a:xfrm>
          <a:prstGeom prst="rect">
            <a:avLst/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l"/>
            <a:r>
              <a:rPr sz="1400" b="1">
                <a:solidFill>
                  <a:srgbClr val="1F3864"/>
                </a:solidFill>
                <a:latin typeface="맑은 고딕"/>
              </a:rPr>
              <a:t>① 자동 감지 cron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39"/>
            <a:ext cx="3246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Vercel Cron 일 1회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RSS 폴링 → 자막 추출 → LLM 요약 직렬 실행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자막 실패 시 메타데이터 폴백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인증된 Bearer 호출만 허용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→ 사용자 개입 0 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2331720"/>
            <a:ext cx="3703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288536" y="2368296"/>
            <a:ext cx="3630168" cy="502920"/>
          </a:xfrm>
          <a:prstGeom prst="rect">
            <a:avLst/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l"/>
            <a:r>
              <a:rPr sz="1400" b="1">
                <a:solidFill>
                  <a:srgbClr val="1F3864"/>
                </a:solidFill>
                <a:latin typeface="맑은 고딕"/>
              </a:rPr>
              <a:t>② 유연한 채널 등록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063239"/>
            <a:ext cx="3246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채널 전체 등록 — 핸들(@) 적용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특정 영상만 — include/exclude 키워드 AND 필터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제목 + RSS 설명문 함께 검색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호스트 해시태그 매치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예: MBC 라디오 시사 — [뉴스하이킥] + 출연자명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예: 이강민의 잡지사 — #곽재식 회차만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331720"/>
            <a:ext cx="37033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83296" y="2368296"/>
            <a:ext cx="3630168" cy="502920"/>
          </a:xfrm>
          <a:prstGeom prst="rect">
            <a:avLst/>
          </a:prstGeom>
          <a:solidFill>
            <a:srgbClr val="E7EF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37160"/>
          <a:lstStyle/>
          <a:p>
            <a:pPr algn="l"/>
            <a:r>
              <a:rPr sz="1400" b="1">
                <a:solidFill>
                  <a:srgbClr val="4472C4"/>
                </a:solidFill>
                <a:latin typeface="맑은 고딕"/>
              </a:rPr>
              <a:t>③ 출연자 ↔ 거론 인물 분리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3063239"/>
            <a:ext cx="324612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people: 직접 출연한 외부 인물만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mentioned_people: 대화 중 거론된 인물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채널 호스트 자동 제외</a:t>
            </a:r>
          </a:p>
          <a:p>
            <a:pPr algn="l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4472C4"/>
                </a:solidFill>
                <a:latin typeface="맑은 고딕"/>
              </a:rPr>
              <a:t>•  </a:t>
            </a:r>
            <a:r>
              <a:rPr sz="1200">
                <a:solidFill>
                  <a:srgbClr val="595959"/>
                </a:solidFill>
                <a:latin typeface="맑은 고딕"/>
              </a:rPr>
              <a:t>환각 방지: 자막에 근거 없으면 비움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비고: 검색·필터·텍스트 내보내기는 v2 후보 (미구현)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맑은 고딕"/>
              </a:rPr>
              <a:t>4. 사용자 이용 흐름 (입력 → 처리 → 결과)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맑은 고딕"/>
              </a:rPr>
              <a:t>4/9  ·  60초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472C4"/>
                </a:solidFill>
                <a:latin typeface="맑은 고딕"/>
              </a:rPr>
              <a:t>[입력]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맑은 고딕"/>
              </a:rPr>
              <a:t>사용자는 /channels 페이지에서 채널 URL + (선택) include/exclude 키워드를 한 번 등록한다.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472C4"/>
                </a:solidFill>
                <a:latin typeface="맑은 고딕"/>
              </a:rPr>
              <a:t>[자동 처리]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2212848" cy="118872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864"/>
                </a:solidFill>
                <a:latin typeface="맑은 고딕"/>
              </a:rPr>
              <a:t>매일 0시 UTC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95959"/>
                </a:solidFill>
                <a:latin typeface="맑은 고딕"/>
              </a:rPr>
              <a:t>Vercel Cron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70048" y="3200400"/>
            <a:ext cx="164592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34640" y="2743200"/>
            <a:ext cx="2212848" cy="118872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864"/>
                </a:solidFill>
                <a:latin typeface="맑은 고딕"/>
              </a:rPr>
              <a:t>RSS 폴링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95959"/>
                </a:solidFill>
                <a:latin typeface="맑은 고딕"/>
              </a:rPr>
              <a:t>8개 구독
키워드 매치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047488" y="3200400"/>
            <a:ext cx="164592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12080" y="2743200"/>
            <a:ext cx="2212848" cy="118872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864"/>
                </a:solidFill>
                <a:latin typeface="맑은 고딕"/>
              </a:rPr>
              <a:t>자막 추출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95959"/>
                </a:solidFill>
                <a:latin typeface="맑은 고딕"/>
              </a:rPr>
              <a:t>youtube-transcript
→ 폴백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424928" y="3200400"/>
            <a:ext cx="164592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89520" y="2743200"/>
            <a:ext cx="2212848" cy="118872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864"/>
                </a:solidFill>
                <a:latin typeface="맑은 고딕"/>
              </a:rPr>
              <a:t>LLM 요약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95959"/>
                </a:solidFill>
                <a:latin typeface="맑은 고딕"/>
              </a:rPr>
              <a:t>gpt-5-mini
JSON Schema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802368" y="3200400"/>
            <a:ext cx="164592" cy="274320"/>
          </a:xfrm>
          <a:prstGeom prst="rightArrow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966960" y="2743200"/>
            <a:ext cx="2212848" cy="118872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864"/>
                </a:solidFill>
                <a:latin typeface="맑은 고딕"/>
              </a:rPr>
              <a:t>Supabase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595959"/>
                </a:solidFill>
                <a:latin typeface="맑은 고딕"/>
              </a:rPr>
              <a:t>videos.summary
jsonb 저장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4805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472C4"/>
                </a:solidFill>
                <a:latin typeface="맑은 고딕"/>
              </a:rPr>
              <a:t>[결과]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5577840" cy="146304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109728"/>
          <a:lstStyle/>
          <a:p>
            <a:pPr algn="l"/>
            <a:r>
              <a:rPr sz="1500" b="1">
                <a:solidFill>
                  <a:srgbClr val="1F3864"/>
                </a:solidFill>
                <a:latin typeface="맑은 고딕"/>
              </a:rPr>
              <a:t>홈 대시보드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• ChannelStrip — 채널 칩 + 영상 수 + NEW 배지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• 카드 그리드 — 제목·헤드라인·키워드·source 배지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• 마지막 자동 확인 시각 노출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937760"/>
            <a:ext cx="5577840" cy="146304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109728"/>
          <a:lstStyle/>
          <a:p>
            <a:pPr algn="l"/>
            <a:r>
              <a:rPr sz="1500" b="1">
                <a:solidFill>
                  <a:srgbClr val="1F3864"/>
                </a:solidFill>
                <a:latin typeface="맑은 고딕"/>
              </a:rPr>
              <a:t>영상 상세 페이지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• 헤드라인 + 키워드(주제+기업 통합)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• 출연자 / 언급된 인물 별도 섹션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• 본문 brief 안 (mm:ss) → 유튜브 그 시점 점프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맑은 고딕"/>
              </a:rPr>
              <a:t>5. 데모 화면 (라이브 데모)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맑은 고딕"/>
              </a:rPr>
              <a:t>5/9  ·  90초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472C4"/>
                </a:solidFill>
                <a:latin typeface="맑은 고딕"/>
              </a:rPr>
              <a:t>라이브 URL: https://tubebrief-mvp.vercel.app/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3749039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595959"/>
                </a:solidFill>
                <a:latin typeface="맑은 고딕"/>
              </a:rPr>
              <a:t>[ 데모 스크린샷 이곳에 ]</a:t>
            </a:r>
          </a:p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F3864"/>
                </a:solidFill>
                <a:latin typeface="맑은 고딕"/>
              </a:rPr>
              <a:t>① 홈 대시보드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595959"/>
                </a:solidFill>
                <a:latin typeface="맑은 고딕"/>
              </a:rPr>
              <a:t>ChannelStrip + 55개 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828800"/>
            <a:ext cx="3749039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595959"/>
                </a:solidFill>
                <a:latin typeface="맑은 고딕"/>
              </a:rPr>
              <a:t>[ 데모 스크린샷 이곳에 ]</a:t>
            </a:r>
          </a:p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F3864"/>
                </a:solidFill>
                <a:latin typeface="맑은 고딕"/>
              </a:rPr>
              <a:t>② 영상 상세 (옛 규칙)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595959"/>
                </a:solidFill>
                <a:latin typeface="맑은 고딕"/>
              </a:rPr>
              <a:t>8Khu3IoZric — brief 366자 / 1문단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1828800"/>
            <a:ext cx="3749039" cy="3108960"/>
          </a:xfrm>
          <a:prstGeom prst="rect">
            <a:avLst/>
          </a:prstGeom>
          <a:solidFill>
            <a:srgbClr val="F5F5F5"/>
          </a:solidFill>
          <a:ln w="12700">
            <a:solidFill>
              <a:srgbClr val="BFBFBF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595959"/>
                </a:solidFill>
                <a:latin typeface="맑은 고딕"/>
              </a:rPr>
              <a:t>[ 데모 스크린샷 이곳에 ]</a:t>
            </a:r>
          </a:p>
          <a:p>
            <a:pPr algn="ctr">
              <a:spcBef>
                <a:spcPts val="800"/>
              </a:spcBef>
            </a:pPr>
            <a:r>
              <a:rPr sz="1200" b="1">
                <a:solidFill>
                  <a:srgbClr val="1F3864"/>
                </a:solidFill>
                <a:latin typeface="맑은 고딕"/>
              </a:rPr>
              <a:t>③ 영상 상세 (새 규칙)</a:t>
            </a:r>
          </a:p>
          <a:p>
            <a:pPr algn="ctr">
              <a:spcBef>
                <a:spcPts val="200"/>
              </a:spcBef>
            </a:pPr>
            <a:r>
              <a:rPr sz="1000">
                <a:solidFill>
                  <a:srgbClr val="595959"/>
                </a:solidFill>
                <a:latin typeface="맑은 고딕"/>
              </a:rPr>
              <a:t>muA-MB0k7SE — brief 2,122자 / 10문단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1663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맑은 고딕"/>
              </a:rPr>
              <a:t>시연 흐름 (90초)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32120"/>
            <a:ext cx="11247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① 홈 → ChannelStrip 의 'Normaltic Place' 클릭 → 카드 필터링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② 8Khu3IoZric (옛 규칙) 클릭 → 짧은 본문 / 시각 마커 없음 / 키워드 5개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③ 뒤로 가서 muA-MB0k7SE (새 규칙) 클릭 → 10문단 본문 / (mm:ss) 점프 링크 5개 / 키워드 13개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④ 상세 페이지 우상단 '삭제' → '정말 삭제' → 홈으로 자동 복귀 + 카드 사라짐 (소프트 삭제, RSS 재인입 차단)</a:t>
            </a:r>
          </a:p>
          <a:p>
            <a:pPr algn="l"/>
            <a:r>
              <a:rPr sz="1100" b="0">
                <a:solidFill>
                  <a:srgbClr val="595959"/>
                </a:solidFill>
                <a:latin typeface="맑은 고딕"/>
              </a:rPr>
              <a:t>⑤ 채널 관리 페이지에서 구독 1개 추가/삭제 — 실시간으로 ChannelStrip 반영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맑은 고딕"/>
              </a:rPr>
              <a:t>6. 기술스택 및 구현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맑은 고딕"/>
              </a:rPr>
              <a:t>6/9  ·  30초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맑은 고딕"/>
              </a:rPr>
              <a:t>단일 Next.js 프로젝트 + Supabase + Vercel — 풀스택 통합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112471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931920"/>
                <a:gridCol w="4937760"/>
              </a:tblGrid>
              <a:tr h="653142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영역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선택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선택 이유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Framework / 언어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Next.js 16 (App Router) + TypeScript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API Routes 로 백엔드 통합, Vercel native. LLM 응답 스키마와 코드 타입 일치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UI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Tailwind v4 + shadcn/ui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AI 코딩 친화, 디자인 시스템 즉시 사용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DB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Supabase (PostgreSQL)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jsonb 컬럼으로 LLM JSON 출력 그대로 저장. RLS 보안. 무료 tier 충분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LLM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OpenAI gpt-5-mini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structured outputs JSON Schema strict — 환각 방지. 한국어 분량 준수</a:t>
                      </a:r>
                    </a:p>
                  </a:txBody>
                  <a:tcPr/>
                </a:tc>
              </a:tr>
              <a:tr h="65314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자막 / 신규 감지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youtube-transcript + RSS Feed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API 키·쿼터 불필요. 클라우드 IP 봇 차단 회피용 폴백 설계</a:t>
                      </a:r>
                    </a:p>
                  </a:txBody>
                  <a:tcPr/>
                </a:tc>
              </a:tr>
              <a:tr h="653148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배포 / 자동화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Vercel Hobby + Vercel Cron + GitHub Auto-Deploy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push → 자동 빌드. cron 무료 (일 1회). 60초 함수 제한 안에서 보수적 처리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맑은 고딕"/>
              </a:rPr>
              <a:t>7. MCP / API 활용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맑은 고딕"/>
              </a:rPr>
              <a:t>7/9  ·  45초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맑은 고딕"/>
              </a:rPr>
              <a:t>직접 호출 4 + 인프라 활용 1 — 서비스 가치와 직결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108960"/>
                <a:gridCol w="5760720"/>
              </a:tblGrid>
              <a:tr h="73152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API / Platform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활용 목적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연동 흐름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7315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OpenAI Chat (gpt-5-mini)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자막 → 구조화 JSON 요약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자막 + 시스템 프롬프트 + JSON Schema → API → response_format strict → Supabase 저장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Supabase REST + JS SDK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채널/구독/영상/요약 저장 조회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서버는 service role, 클라이언트는 publishable key (RLS 보호)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YouTube RSS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신규 영상 감지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feeds/videos.xml?channel_id 폴링 → XML 파싱 → 키워드 매치 → DB INSERT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YouTube 페이지 스크래핑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URL → channel_id 추출 (다양한 형식)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6 패턴 fallback (canonical / og:url / Schema.org / JSON channelId 등)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Vercel Platform (인프라)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Cron + Functions + Env + GitHub Auto-Deploy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vercel.json crons → 매일 0시 /api/cron 자동. push 시 자동 재배포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한계: LLM 비용 영상당 ~$0.025 / Vercel Hobby 60초 timeout → 보수적 limit + temperature 0.2 로 retry 최소화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맑은 고딕"/>
              </a:rPr>
              <a:t>8. 컨텍스트 엔지니어링 활용 방식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맑은 고딕"/>
              </a:rPr>
              <a:t>8/9  ·  45초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3864"/>
                </a:solidFill>
                <a:latin typeface="맑은 고딕"/>
              </a:rPr>
              <a:t>Claude Code + .md 파일 4개로 역할·목표·제약·검증 기준 설계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73736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291840"/>
                <a:gridCol w="5577840"/>
              </a:tblGrid>
              <a:tr h="731520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Context 파일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주요 역할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실제 활용 방식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7315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CLAUDE.md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세션마다 자동 로드되는 프로젝트 규칙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절대 규칙 6개 + 작업 순서 8단계 + 코딩 스타일. 규칙 1번(키 보안)·6번(form 금지)이 모든 코드에 반영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TubeBrief_PRD.md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제품 요구사항 — 문제·기능·사용자 흐름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자막 폴백 3단계 (transcript_ok / metadata_fallback / failed) 가 그대로 코드 status 값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SUMMARY_SCHEMA.json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LLM 출력 JSON 스키마 진실 공급원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OpenAI response_format.json_schema 에 그대로 전달. strict mode 강제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PRESENTATION.md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발표 콘텐츠 + 옛/새 규칙 비교 라이브 자료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발표 9슬라이드 70% 사전 정리. 비교용 두 URL 박혀 있어 GitHub 리뷰 시 노출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4472C4"/>
                </a:solidFill>
                <a:latin typeface="맑은 고딕"/>
              </a:rPr>
              <a:t>Context 작성을 위한 입력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9788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• CLAUDE.md: 강의 교안의 'AI 협업 규칙' + Anthropic Claude Code 공식 베스트 프랙티스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• PRD: 본인 문제 정의 + 기존 유튜브 요약 서비스 한계 분석</a:t>
            </a:r>
          </a:p>
          <a:p>
            <a:pPr algn="l"/>
            <a:r>
              <a:rPr sz="1000" b="0">
                <a:solidFill>
                  <a:srgbClr val="595959"/>
                </a:solidFill>
                <a:latin typeface="맑은 고딕"/>
              </a:rPr>
              <a:t>• SUMMARY_SCHEMA: OpenAI structured outputs 공식 가이드 + JSON Schema draft-07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맑은 고딕"/>
              </a:rPr>
              <a:t>9. 어려움·해결·한계·개선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맑은 고딕"/>
              </a:rPr>
              <a:t>9/9  ·  60초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669280" cy="265176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09728" bIns="109728"/>
          <a:lstStyle/>
          <a:p>
            <a:pPr algn="l"/>
            <a:r>
              <a:rPr sz="1500" b="1">
                <a:solidFill>
                  <a:srgbClr val="1F3864"/>
                </a:solidFill>
                <a:latin typeface="맑은 고딕"/>
              </a:rPr>
              <a:t>[어려움] LLM 한국어 요약이 규칙을 안 지킴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• 초기 gpt-4o-mini: brief 290자 / 1문단 / (mm:ss) 0개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• 프롬프트의 '가이드' 표현 → LLM 이 권고로 받아들임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[해결 — 3겹 가드레일]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① 프롬프트 명령조 강화 (반드시 N자 이상)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② validateSummary 후처리 + 위반 시 자동 재시도 (MAX 2)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595959"/>
                </a:solidFill>
                <a:latin typeface="맑은 고딕"/>
              </a:rPr>
              <a:t>③ gpt-5-mini 로 모델 교체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맑은 고딕"/>
              </a:rPr>
              <a:t>[결과] 같은 영상, 8배 정보 밀도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508760"/>
          <a:ext cx="54864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828800"/>
                <a:gridCol w="2194560"/>
              </a:tblGrid>
              <a:tr h="438912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옛 규칙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새 규칙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389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brief 분량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264자 / 1문단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2,122자 / 10문단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(mm:ss) 마커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companies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7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출연자/거론 분리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혼재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people / mentioned_people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39319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4472C4"/>
                </a:solidFill>
                <a:latin typeface="맑은 고딕"/>
              </a:rPr>
              <a:t>[한계 · 개선] 정직한 회고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434340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/>
                <a:gridCol w="5394960"/>
              </a:tblGrid>
              <a:tr h="438912"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한계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  <a:tc>
                  <a:txBody>
                    <a:bodyPr lIns="73152" rIns="73152"/>
                    <a:lstStyle/>
                    <a:p>
                      <a:pPr algn="l"/>
                      <a:r>
                        <a:rPr sz="1100" b="1">
                          <a:solidFill>
                            <a:srgbClr val="1F3864"/>
                          </a:solidFill>
                          <a:latin typeface="맑은 고딕"/>
                        </a:rPr>
                        <a:t>현재 대응 / 향후 개선</a:t>
                      </a:r>
                    </a:p>
                  </a:txBody>
                  <a:tcPr>
                    <a:solidFill>
                      <a:srgbClr val="D9E2F3"/>
                    </a:solidFill>
                  </a:tcPr>
                </a:tc>
              </a:tr>
              <a:tr h="4389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신규 등록 채널의 RSS 15편 이전 영상 백필 불가 (일일 cron 운영에선 누락 거의 없음)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YouTube Data API 도입 시 등록 직후 백필 가능 (쿼터·인증 부담)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Vercel Hobby 60초 / 일 1회 cron — backlog 누적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Pro 업그레이드 또는 외부 워커 분리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자막 음성 인식 오류 (곽재식 → 곽제식)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description 의 #곽재식 해시태그를 정답 표기로 LLM 시스템 프롬프트에 주입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인증 부재 — 배포 URL 공개</a:t>
                      </a:r>
                    </a:p>
                  </a:txBody>
                  <a:tcPr/>
                </a:tc>
                <a:tc>
                  <a:txBody>
                    <a:bodyPr lIns="73152" rIns="73152" tIns="36576" bIns="36576" wrap="square"/>
                    <a:lstStyle/>
                    <a:p>
                      <a:pPr algn="l"/>
                      <a:r>
                        <a:rPr sz="1000">
                          <a:solidFill>
                            <a:srgbClr val="595959"/>
                          </a:solidFill>
                          <a:latin typeface="맑은 고딕"/>
                        </a:rPr>
                        <a:t>Vercel Password Protection 또는 Supabase Auth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1F3864"/>
                </a:solidFill>
                <a:latin typeface="맑은 고딕"/>
              </a:rPr>
              <a:t>배운 점: 프롬프트 단독으로는 부족 — 검증·재시도·모델 선택의 3겹 가드레일이 신뢰 가능한 LLM 시스템의 필수 구성.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